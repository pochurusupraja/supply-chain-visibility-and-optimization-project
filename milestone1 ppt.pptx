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91FE79-9749-4BF2-ACA3-832B4B799D45}" v="30" dt="2026-08-04T13:26:21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79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48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1727633" y="8432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1296537"/>
            <a:ext cx="10740309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00B0F0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Supply Chain Visibility</a:t>
            </a:r>
            <a:endParaRPr lang="en-US" sz="4600" dirty="0">
              <a:solidFill>
                <a:srgbClr val="00B0F0"/>
              </a:solidFill>
              <a:latin typeface="Georgia" panose="02040502050405020303" pitchFamily="18" charset="0"/>
            </a:endParaRPr>
          </a:p>
          <a:p>
            <a:pPr marL="0" indent="0" algn="ctr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00B0F0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&amp; Optimization</a:t>
            </a:r>
            <a:endParaRPr lang="en-US" sz="4600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754877" y="3304326"/>
            <a:ext cx="112743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Turning raw logistics data into real-time, data-driven decisions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45904" y="4389120"/>
            <a:ext cx="4655975" cy="210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0B0F0"/>
                </a:solidFill>
                <a:ea typeface="Calibri" pitchFamily="34" charset="-122"/>
                <a:cs typeface="Calibri" pitchFamily="34" charset="-120"/>
              </a:rPr>
              <a:t>Presented By</a:t>
            </a:r>
            <a:r>
              <a:rPr lang="en-US" sz="1100" b="1" dirty="0">
                <a:solidFill>
                  <a:srgbClr val="00B0F0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5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Vijetha 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Supriya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Supraja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Srilatha</a:t>
            </a:r>
          </a:p>
          <a:p>
            <a:pPr>
              <a:lnSpc>
                <a:spcPct val="115000"/>
              </a:lnSpc>
            </a:pPr>
            <a:r>
              <a:rPr lang="en-US" sz="1050" dirty="0">
                <a:solidFill>
                  <a:srgbClr val="E9F1F7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>
              <a:latin typeface="Bell MT" panose="02020503060305020303" pitchFamily="18" charset="0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A95FDF97-13E0-6A96-F15B-DC1388D04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87" y="165100"/>
            <a:ext cx="1712068" cy="1809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DBC624B-52D0-03EB-F8E0-81874AB8D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066" y="3207328"/>
            <a:ext cx="3282112" cy="328211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>
              <a:solidFill>
                <a:srgbClr val="0070C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supply chain visibility matters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5EE"/>
            </a:solidFill>
            <a:prstDash val="solid"/>
          </a:ln>
          <a:effectLst>
            <a:outerShdw blurRad="76200" dist="25400" dir="5400000" algn="bl" rotWithShape="0">
              <a:srgbClr val="9FB4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4767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" y="2030882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928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Management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2860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sourcing, manufacturing, transporting, and delivering products efficiently from suppliers to customers.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5EE"/>
            </a:solidFill>
            <a:prstDash val="solid"/>
          </a:ln>
          <a:effectLst>
            <a:outerShdw blurRad="76200" dist="25400" dir="5400000" algn="bl" rotWithShape="0">
              <a:srgbClr val="9FB4C7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94767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450" y="2030882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928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Visibility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15200" y="22860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of inventory, suppliers, warehouses, transportation, and customer deliveries across the chain.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5EE"/>
            </a:solidFill>
            <a:prstDash val="solid"/>
          </a:ln>
          <a:effectLst>
            <a:outerShdw blurRad="76200" dist="25400" dir="5400000" algn="bl" rotWithShape="0">
              <a:srgbClr val="9FB4C7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09651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tre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610" y="4179722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0416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of Analytics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44348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operational performance, reduces costs, identifies bottlenecks, and improves customer satisfaction.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5EE"/>
            </a:solidFill>
            <a:prstDash val="solid"/>
          </a:ln>
          <a:effectLst>
            <a:outerShdw blurRad="76200" dist="25400" dir="5400000" algn="bl" rotWithShape="0">
              <a:srgbClr val="9FB4C7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09651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bar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5450" y="4179722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416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15200" y="44348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powers data preprocessing; Microsoft Power BI turns the clean data into interactive business dashboards.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&amp; OPTIMIZATION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organizations face challenges in managing inventory, supplier coordination, manufacturing, warehouse operations, and transportation due to limited supply chain visibility.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project analyzes supply chain data, identifies operational inefficiencies, and develops interactive dashboards that support better planning, faster decisions, and optimized performance.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522720" y="1453896"/>
            <a:ext cx="5029200" cy="73152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2552" y="1536192"/>
            <a:ext cx="502920" cy="5029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9" name="Text 6"/>
          <p:cNvSpPr/>
          <p:nvPr/>
        </p:nvSpPr>
        <p:spPr>
          <a:xfrm>
            <a:off x="7360920" y="14173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Shortages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6537960" y="2350008"/>
            <a:ext cx="5029200" cy="73152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02552" y="2468880"/>
            <a:ext cx="502920" cy="5029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235000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Deliveries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537960" y="3282696"/>
            <a:ext cx="5029200" cy="73152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702552" y="3401568"/>
            <a:ext cx="502920" cy="5029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7" name="Text 12"/>
          <p:cNvSpPr/>
          <p:nvPr/>
        </p:nvSpPr>
        <p:spPr>
          <a:xfrm>
            <a:off x="7360920" y="3282696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Operational Costs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537960" y="4215384"/>
            <a:ext cx="5029200" cy="73152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702552" y="4334256"/>
            <a:ext cx="502920" cy="5029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1" name="Text 15"/>
          <p:cNvSpPr/>
          <p:nvPr/>
        </p:nvSpPr>
        <p:spPr>
          <a:xfrm>
            <a:off x="7360920" y="4215384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Inventory Planning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Shape 16"/>
          <p:cNvSpPr/>
          <p:nvPr/>
        </p:nvSpPr>
        <p:spPr>
          <a:xfrm>
            <a:off x="6537960" y="5148072"/>
            <a:ext cx="5029200" cy="73152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702552" y="5266944"/>
            <a:ext cx="502920" cy="5029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5" name="Text 18"/>
          <p:cNvSpPr/>
          <p:nvPr/>
        </p:nvSpPr>
        <p:spPr>
          <a:xfrm>
            <a:off x="7360920" y="514807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Customer Satisfaction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&amp; OPTIMIZATION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>
              <a:solidFill>
                <a:srgbClr val="0070C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achieve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E5EE"/>
            </a:solidFill>
            <a:prstDash val="solid"/>
          </a:ln>
          <a:effectLst>
            <a:outerShdw blurRad="63500" dist="25400" dir="5400000" algn="bl" rotWithShape="0">
              <a:srgbClr val="9FB4C7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874520" y="1801368"/>
            <a:ext cx="0" cy="694944"/>
          </a:xfrm>
          <a:prstGeom prst="line">
            <a:avLst/>
          </a:prstGeom>
          <a:noFill/>
          <a:ln w="15875">
            <a:solidFill>
              <a:srgbClr val="D7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1764792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the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764792"/>
            <a:ext cx="6263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inventory availability, supplier performance, manufacturing activities, logistics, and customer demand.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E5EE"/>
            </a:solidFill>
            <a:prstDash val="solid"/>
          </a:ln>
          <a:effectLst>
            <a:outerShdw blurRad="63500" dist="25400" dir="5400000" algn="bl" rotWithShape="0">
              <a:srgbClr val="9FB4C7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80720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874520" y="2916936"/>
            <a:ext cx="0" cy="694944"/>
          </a:xfrm>
          <a:prstGeom prst="line">
            <a:avLst/>
          </a:prstGeom>
          <a:noFill/>
          <a:ln w="15875">
            <a:solidFill>
              <a:srgbClr val="D7E5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880360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 the Dataset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880360"/>
            <a:ext cx="6263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remove duplicates, correct data types, and prepare a clean dataset for analysis.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E5EE"/>
            </a:solidFill>
            <a:prstDash val="solid"/>
          </a:ln>
          <a:effectLst>
            <a:outerShdw blurRad="63500" dist="25400" dir="5400000" algn="bl" rotWithShape="0">
              <a:srgbClr val="9FB4C7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922776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874520" y="4032504"/>
            <a:ext cx="0" cy="694944"/>
          </a:xfrm>
          <a:prstGeom prst="line">
            <a:avLst/>
          </a:prstGeom>
          <a:noFill/>
          <a:ln w="15875">
            <a:solidFill>
              <a:srgbClr val="D7E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3995928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Dashboards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3995928"/>
            <a:ext cx="6263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interactive dashboards in Microsoft Power BI to visualize key performance indicators and metrics.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38344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E5EE"/>
            </a:solidFill>
            <a:prstDash val="solid"/>
          </a:ln>
          <a:effectLst>
            <a:outerShdw blurRad="63500" dist="25400" dir="5400000" algn="bl" rotWithShape="0">
              <a:srgbClr val="9FB4C7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5038344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874520" y="5148072"/>
            <a:ext cx="0" cy="694944"/>
          </a:xfrm>
          <a:prstGeom prst="line">
            <a:avLst/>
          </a:prstGeom>
          <a:noFill/>
          <a:ln w="15875">
            <a:solidFill>
              <a:srgbClr val="D7E5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5111496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Insights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5111496"/>
            <a:ext cx="6263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insights that support inventory optimization, supplier evaluation, logistics, and data-driven decisions.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&amp; OPTIMIZATION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400" dirty="0">
              <a:solidFill>
                <a:srgbClr val="0070C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 behind the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1" y="1600200"/>
            <a:ext cx="324612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19072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1,540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69080" y="1600200"/>
            <a:ext cx="324612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4069080" y="1719072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latin typeface="Cambria" pitchFamily="34" charset="0"/>
                <a:ea typeface="Cambria" pitchFamily="34" charset="-122"/>
              </a:rPr>
              <a:t>24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069080" y="2560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520440"/>
            <a:ext cx="3520440" cy="246888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rgbClr val="23496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3794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icons/pac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67" y="3872027"/>
            <a:ext cx="439826" cy="43982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4526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Information</a:t>
            </a:r>
            <a:endParaRPr lang="en-US" sz="14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 14"/>
          <p:cNvSpPr/>
          <p:nvPr/>
        </p:nvSpPr>
        <p:spPr>
          <a:xfrm>
            <a:off x="914400" y="4983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ea typeface="Calibri" pitchFamily="34" charset="-122"/>
                <a:cs typeface="Times New Roman" panose="02020603050405020304" pitchFamily="18" charset="0"/>
              </a:rPr>
              <a:t>Product Type, SKU, Price, Availability, Products Sold, Revenue Generated, Stock Levels, Order Quantities.</a:t>
            </a:r>
            <a:endParaRPr lang="en-US" sz="1400" dirty="0"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4434840" y="3520440"/>
            <a:ext cx="3520440" cy="246888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rgbClr val="23496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709160" y="3794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icons/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427" y="3872027"/>
            <a:ext cx="439826" cy="43982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09160" y="4526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Data</a:t>
            </a:r>
            <a:endParaRPr lang="en-US" sz="14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Text 18"/>
          <p:cNvSpPr/>
          <p:nvPr/>
        </p:nvSpPr>
        <p:spPr>
          <a:xfrm>
            <a:off x="4709160" y="4983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Time, Shipping Carrier, Shipping Cost, Transportation Mode, Route.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Shape 19"/>
          <p:cNvSpPr/>
          <p:nvPr/>
        </p:nvSpPr>
        <p:spPr>
          <a:xfrm>
            <a:off x="8229600" y="3520440"/>
            <a:ext cx="3520440" cy="246888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rgbClr val="23496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503920" y="3794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3" descr="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1187" y="3872027"/>
            <a:ext cx="439826" cy="43982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503920" y="4526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&amp; Suppliers</a:t>
            </a:r>
            <a:endParaRPr lang="en-US" sz="14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Text 22"/>
          <p:cNvSpPr/>
          <p:nvPr/>
        </p:nvSpPr>
        <p:spPr>
          <a:xfrm>
            <a:off x="8503920" y="4983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Name, Production Volume, Manufacturing Cost, Lead Time, Inspection Result, Defect Rate.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&amp; OPTIMIZATION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765613D-BF75-9B35-360D-F2EB3528C2C3}"/>
              </a:ext>
            </a:extLst>
          </p:cNvPr>
          <p:cNvSpPr/>
          <p:nvPr/>
        </p:nvSpPr>
        <p:spPr>
          <a:xfrm>
            <a:off x="7680960" y="1627632"/>
            <a:ext cx="3198534" cy="15361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/>
          </a:p>
          <a:p>
            <a:pPr algn="ctr"/>
            <a:endParaRPr lang="en-IN" sz="1400" dirty="0"/>
          </a:p>
          <a:p>
            <a:pPr algn="ctr"/>
            <a:r>
              <a:rPr lang="en-IN" sz="1400" dirty="0"/>
              <a:t>  Every stage of supply chain operations, in one table</a:t>
            </a: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1F300D39-8161-36AC-D895-926B924277B7}"/>
              </a:ext>
            </a:extLst>
          </p:cNvPr>
          <p:cNvSpPr/>
          <p:nvPr/>
        </p:nvSpPr>
        <p:spPr>
          <a:xfrm>
            <a:off x="7772400" y="1740346"/>
            <a:ext cx="622570" cy="582230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Import &amp; Understanding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Bringing the raw Excel data into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0120" y="2331720"/>
            <a:ext cx="0" cy="850392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" y="17748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the dataset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01168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Excel dataset into Python using the Pandas library for preprocessing and analysis.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60120" y="3502152"/>
            <a:ext cx="0" cy="850392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640080" y="286207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" y="2945282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Examine structure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63040" y="3182112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dataset dimensions, column names, and data types to understand its structure.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960120" y="4672584"/>
            <a:ext cx="0" cy="850392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640080" y="4032504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bar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" y="4115714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0050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features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4352544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numerical and categorical features before performing cleaning operations.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0080" y="5202936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290" y="5286146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51755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quality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463040" y="5522976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quality to ensure the dataset was ready for preprocessing.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446520" y="1691640"/>
            <a:ext cx="5074920" cy="4572000"/>
          </a:xfrm>
          <a:prstGeom prst="roundRect">
            <a:avLst>
              <a:gd name="adj" fmla="val 1600"/>
            </a:avLst>
          </a:prstGeom>
          <a:solidFill>
            <a:srgbClr val="0D1B2A"/>
          </a:solidFill>
          <a:ln/>
        </p:spPr>
      </p:sp>
      <p:sp>
        <p:nvSpPr>
          <p:cNvPr id="24" name="Shape 18"/>
          <p:cNvSpPr/>
          <p:nvPr/>
        </p:nvSpPr>
        <p:spPr>
          <a:xfrm>
            <a:off x="6675120" y="1892808"/>
            <a:ext cx="128016" cy="128016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25" name="Shape 19"/>
          <p:cNvSpPr/>
          <p:nvPr/>
        </p:nvSpPr>
        <p:spPr>
          <a:xfrm>
            <a:off x="6885432" y="1892808"/>
            <a:ext cx="128016" cy="128016"/>
          </a:xfrm>
          <a:prstGeom prst="ellipse">
            <a:avLst/>
          </a:prstGeom>
          <a:solidFill>
            <a:srgbClr val="F4C95F"/>
          </a:solidFill>
          <a:ln/>
        </p:spPr>
      </p:sp>
      <p:sp>
        <p:nvSpPr>
          <p:cNvPr id="26" name="Shape 20"/>
          <p:cNvSpPr/>
          <p:nvPr/>
        </p:nvSpPr>
        <p:spPr>
          <a:xfrm>
            <a:off x="7095744" y="1892808"/>
            <a:ext cx="128016" cy="128016"/>
          </a:xfrm>
          <a:prstGeom prst="ellipse">
            <a:avLst/>
          </a:prstGeom>
          <a:solidFill>
            <a:srgbClr val="9FD8CB"/>
          </a:solidFill>
          <a:ln/>
        </p:spPr>
      </p:sp>
      <p:sp>
        <p:nvSpPr>
          <p:cNvPr id="27" name="Text 21"/>
          <p:cNvSpPr/>
          <p:nvPr/>
        </p:nvSpPr>
        <p:spPr>
          <a:xfrm>
            <a:off x="6720840" y="21945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720840" y="261518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720840" y="320040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pd.read_excel("supply_chain_raw_1540_rows.xlsx")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6720840" y="362102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r>
              <a:rPr lang="en-US" sz="1000" i="1" dirty="0">
                <a:solidFill>
                  <a:srgbClr val="5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preview first 5 rows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720840" y="404164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r>
              <a:rPr lang="en-US" sz="1000" i="1" dirty="0">
                <a:solidFill>
                  <a:srgbClr val="5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(1540, 30)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6720840" y="446227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</a:t>
            </a:r>
            <a:r>
              <a:rPr lang="en-US" sz="1000" i="1" dirty="0">
                <a:solidFill>
                  <a:srgbClr val="5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list all 30 column names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720840" y="488289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r>
              <a:rPr lang="en-US" sz="1000" i="1" dirty="0">
                <a:solidFill>
                  <a:srgbClr val="5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dtypes, non-null counts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720840" y="53035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r>
              <a:rPr lang="en-US" sz="1000" i="1" dirty="0">
                <a:solidFill>
                  <a:srgbClr val="5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mean, min, max, std dev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&amp; OPTIMIZATION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400" dirty="0">
              <a:solidFill>
                <a:srgbClr val="0070C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Cleaning the raw dataset for reliable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08760" y="24231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688" y="2536088"/>
            <a:ext cx="642823" cy="6428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Import &amp; Check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" y="4023360"/>
            <a:ext cx="22037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the raw dataset into Python and performed data quality checks before analysis</a:t>
            </a:r>
            <a:r>
              <a:rPr lang="en-US" sz="1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46120" y="32918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02152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85032" y="2103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70832" y="24231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760" y="2536088"/>
            <a:ext cx="642823" cy="64282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85032" y="3520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Identify Issues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703320" y="4023360"/>
            <a:ext cx="22037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missing values, duplicate records, and verified data types to improve consistency.</a:t>
            </a:r>
            <a:endParaRPr lang="en-US" sz="1200" dirty="0">
              <a:solidFill>
                <a:srgbClr val="00B0F0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6108192" y="32918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364224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47104" y="2103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232904" y="24231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icons/refre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832" y="2536088"/>
            <a:ext cx="642823" cy="64282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47104" y="3520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Standardize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565392" y="4023360"/>
            <a:ext cx="22037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standardized the dataset to ensure accurate analysis and visualization.</a:t>
            </a:r>
            <a:endParaRPr lang="en-US" sz="1200" dirty="0">
              <a:solidFill>
                <a:srgbClr val="00B0F0"/>
              </a:solidFill>
            </a:endParaRPr>
          </a:p>
        </p:txBody>
      </p:sp>
      <p:sp>
        <p:nvSpPr>
          <p:cNvPr id="24" name="Text 19"/>
          <p:cNvSpPr/>
          <p:nvPr/>
        </p:nvSpPr>
        <p:spPr>
          <a:xfrm>
            <a:off x="8970264" y="32918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226296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409176" y="2103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10094976" y="24231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3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7904" y="2536088"/>
            <a:ext cx="642823" cy="64282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409176" y="3520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Save Output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427464" y="4023360"/>
            <a:ext cx="22037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the processed dataset for dashboard development in Microsoft </a:t>
            </a:r>
            <a:r>
              <a:rPr lang="en-US" sz="1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&amp; OPTIMIZATION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698480" y="914400"/>
            <a:ext cx="100584" cy="100584"/>
          </a:xfrm>
          <a:prstGeom prst="ellipse">
            <a:avLst/>
          </a:prstGeom>
          <a:solidFill>
            <a:srgbClr val="9FD8CB"/>
          </a:solidFill>
          <a:ln/>
        </p:spPr>
      </p:sp>
      <p:sp>
        <p:nvSpPr>
          <p:cNvPr id="11" name="Text 8"/>
          <p:cNvSpPr/>
          <p:nvPr/>
        </p:nvSpPr>
        <p:spPr>
          <a:xfrm>
            <a:off x="205273" y="0"/>
            <a:ext cx="11179007" cy="480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25151" y="1014984"/>
            <a:ext cx="10759129" cy="4288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&amp; Optimization  |  Group 5  |  Infosys Springboard Virtual Internship 7.0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206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644</Words>
  <Application>Microsoft Office PowerPoint</Application>
  <PresentationFormat>Widescreen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Bell MT</vt:lpstr>
      <vt:lpstr>Calibri</vt:lpstr>
      <vt:lpstr>Cambria</vt:lpstr>
      <vt:lpstr>Courier New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Pochuru Supraja</cp:lastModifiedBy>
  <cp:revision>4</cp:revision>
  <dcterms:created xsi:type="dcterms:W3CDTF">2026-08-02T04:23:58Z</dcterms:created>
  <dcterms:modified xsi:type="dcterms:W3CDTF">2026-09-08T14:02:43Z</dcterms:modified>
</cp:coreProperties>
</file>