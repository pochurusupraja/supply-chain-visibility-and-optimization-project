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70" r:id="rId12"/>
    <p:sldId id="271" r:id="rId13"/>
    <p:sldId id="273" r:id="rId14"/>
    <p:sldId id="274" r:id="rId15"/>
    <p:sldId id="276" r:id="rId16"/>
    <p:sldId id="277" r:id="rId17"/>
    <p:sldId id="279" r:id="rId18"/>
    <p:sldId id="280" r:id="rId19"/>
    <p:sldId id="296" r:id="rId20"/>
    <p:sldId id="297" r:id="rId21"/>
    <p:sldId id="298" r:id="rId22"/>
    <p:sldId id="299" r:id="rId23"/>
    <p:sldId id="300" r:id="rId24"/>
    <p:sldId id="30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64592" cy="6858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1288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241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rPr dirty="0"/>
              <a:t>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1024128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100" b="1">
                <a:solidFill>
                  <a:srgbClr val="D5EFF0"/>
                </a:solidFill>
                <a:latin typeface="Aptos"/>
              </a:defRPr>
            </a:pPr>
            <a:r>
              <a:t>Visibility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52928"/>
            <a:ext cx="8503920" cy="4062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188F91"/>
                </a:solidFill>
                <a:latin typeface="Aptos"/>
              </a:defRPr>
            </a:pPr>
            <a:r>
              <a:rPr lang="en-US" sz="2400" dirty="0"/>
              <a:t>Milestone 4:</a:t>
            </a:r>
            <a:endParaRPr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751156" y="3232645"/>
            <a:ext cx="8503920" cy="56015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rPr lang="en-US" b="1" dirty="0"/>
              <a:t>Warehouse efficiency reports     Executive overview dashboard</a:t>
            </a:r>
          </a:p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rPr lang="en-US" b="1" dirty="0"/>
              <a:t>Optimized dashboard performance       Final </a:t>
            </a:r>
            <a:r>
              <a:rPr lang="en-US" b="1" dirty="0" err="1"/>
              <a:t>tesing,documentation&amp;deployment</a:t>
            </a:r>
            <a:endParaRPr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828800" y="4251960"/>
            <a:ext cx="85039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81728"/>
            <a:ext cx="8503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02352"/>
            <a:ext cx="850392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CDD5E1"/>
                </a:solidFill>
                <a:latin typeface="Aptos"/>
              </a:defRPr>
            </a:pPr>
            <a:r>
              <a:rPr lang="en-US" dirty="0"/>
              <a:t>03 September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data preprocessing to supply chain performance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Planning, sourcing, manufacturing, transport, and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Monitor inventory, suppliers, logistics, and fulfillment.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1325880"/>
            <a:ext cx="73152" cy="18288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Identify bottlenecks, control costs, and improve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57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4223D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Data preprocessing and data-quality preparation.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Interactive dashboards and performance analysis.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8640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7717E"/>
                </a:solidFill>
                <a:latin typeface="Aptos"/>
              </a:defRPr>
            </a:pPr>
            <a:r>
              <a:t>Milestone 1 → Clean data  •  Milestone 2 → Analysis &amp; dashboards  •  Milestone 3 → Advanced performance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Common challenges in supply chain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Shortages and excess inventory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Delays and logistics inefficiencies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80" y="13258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Higher operational expenses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274320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Inefficient inventory planning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274320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Supplier and product quality issues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274320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Reduced customer satisfaction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43400"/>
            <a:ext cx="11018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4343400"/>
            <a:ext cx="73152" cy="105156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4471416"/>
            <a:ext cx="10762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4846320"/>
            <a:ext cx="1076248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Analyze supply chain performance, identify inefficiencies, and support data-driven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aim to achieve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Understand and analyze the supply chain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Identify and resolve data-quality issues using Python.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Perform exploratory data analysis to identify patterns and trends.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6974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Develop interactive Power BI dashboards for supply chain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069080"/>
            <a:ext cx="73152" cy="1078992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1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Evaluate supplier, transportation, route, and carrier performance.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40690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Combine key performance indicators to generate actionable optimization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Supply chain dataset used for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1,540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697480"/>
            <a:ext cx="73152" cy="2057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Type • SKU • Price • Availability • Products Sold • Revenue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2697480"/>
            <a:ext cx="73152" cy="2057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Shipping Time • Carrier • Shipping Cost • Transportation Mode •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55864" y="2697480"/>
            <a:ext cx="73152" cy="2057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0456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Supplier &amp; Manufacturing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Supplier • Manufacturing Cost • Lead Time • Inspection • Defect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074920"/>
            <a:ext cx="10844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074920"/>
            <a:ext cx="73152" cy="8686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5202936"/>
            <a:ext cx="1058875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577840"/>
            <a:ext cx="10588752" cy="2468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Provide the data foundation for preprocessing, analysis, and dashboard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Preparing a clean and reliable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1. 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Load raw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62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2. Quality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Missing values, duplicates, formatting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83480" y="1371600"/>
            <a:ext cx="73152" cy="164592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48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3. Data 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Clean and standardize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34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4.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Verify cleaned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55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5.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Prepare final dataset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342900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342900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35570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Data-quality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393192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Missing values • Duplicates • Data types • Formatting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452628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Clean, structured dataset ready for EDA and Power BI analysis.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452628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 &amp; reliable dataset for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EDA – Complete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Exploratory Data Analysis before deeper business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9601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1071676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Examining, summarizing, cleaning, visualizing, and analyzing data to discover useful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Understand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7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79" y="2514600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514600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19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25711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Univariate / Bivariate / Multivariate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Statistical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7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79" y="3749039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4787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3749039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Find Patterns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61119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25711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257800"/>
            <a:ext cx="10972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5257800"/>
            <a:ext cx="73152" cy="7498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53858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760720"/>
            <a:ext cx="10716768" cy="12801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Cleaned and analyzed data ready for dashboard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1 – Supply Chain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Monitor overall inventory, revenue, shipping, and fulfillment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.jpg"/>
          <p:cNvPicPr>
            <a:picLocks noChangeAspect="1"/>
          </p:cNvPicPr>
          <p:nvPr/>
        </p:nvPicPr>
        <p:blipFill>
          <a:blip r:embed="rId2"/>
          <a:srcRect l="2517" t="11904" r="26014" b="12008"/>
          <a:stretch>
            <a:fillRect/>
          </a:stretch>
        </p:blipFill>
        <p:spPr>
          <a:xfrm>
            <a:off x="502920" y="1234440"/>
            <a:ext cx="7818120" cy="5074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75.62K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Inventory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3.75M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Turnover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8.84M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5.74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Avg. Shipping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90.38%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Fulfillment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2 – Product &amp; Supplier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Compare product, supplier, quality, and transportation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.jpg"/>
          <p:cNvPicPr>
            <a:picLocks noChangeAspect="1"/>
          </p:cNvPicPr>
          <p:nvPr/>
        </p:nvPicPr>
        <p:blipFill>
          <a:blip r:embed="rId2"/>
          <a:srcRect l="2372" t="17449" r="24937" b="13090"/>
          <a:stretch>
            <a:fillRect/>
          </a:stretch>
        </p:blipFill>
        <p:spPr>
          <a:xfrm>
            <a:off x="502921" y="1371600"/>
            <a:ext cx="7818120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83080"/>
            <a:ext cx="2834640" cy="4069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Supplier 1: Highest inventory value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Cosmetics: Higher defect values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Pending Inspections: 45.15%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Road Inventory Share: 41.37%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Sales by Supplier &amp; Product Type: Itemized tracking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Carrier Comparison: Shipping time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Key observations from the existing Power BI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Skincare contributes strongly to inventory and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Transportation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Road has the largest inventory share (41.37%).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65176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Fulfillment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On-time fulfillment is 90.38%.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Average shipping time is 5.74 days.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Supplier 1 has the highest inventory value.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Cosmetics show comparatively higher defect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Which suppliers are performing well and which need improvement?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3258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Evaluation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7040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• Products Sold • Average Price • Stock Levels • Product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74320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74320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7121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4612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8.84M • Products Sold 710.28K • Average Price 48.26 • Stock Levels 75.62K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Summarizes supplier-related sales, product and stock performance in one view.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2B8FE4-6900-944A-CE1B-AA80F659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5" t="7808" r="8500" b="5547"/>
          <a:stretch>
            <a:fillRect/>
          </a:stretch>
        </p:blipFill>
        <p:spPr>
          <a:xfrm>
            <a:off x="320040" y="1234440"/>
            <a:ext cx="7040880" cy="51572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Granular view of stock distribution, product contribution, and supplier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315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Stock by product type and location, SKU/product detail, supplier records and shipping cost by carrier.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 stock distribution, product contribution and logistics indicators across suppliers and locations.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detailed supplier/product view for identifying areas that need attention.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98E848-C2FB-472A-79FB-4D7C30106F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8" t="12888" r="16332" b="15437"/>
          <a:stretch>
            <a:fillRect/>
          </a:stretch>
        </p:blipFill>
        <p:spPr>
          <a:xfrm>
            <a:off x="0" y="1234440"/>
            <a:ext cx="7818120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Where are we spending the most on transportation?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Average Shipping Cost 5.67 • Total Revenue 8.84M • 3 Carriers • 5 Suppliers • About 2K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69748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69748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2549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0040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Transportation Mode • Location • Carrier • Supplier • 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Shows where transportation spending is concentrated and supports cost comparison.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3488DBE-966A-87E0-0202-42639DF9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03" t="18000" r="19758" b="13066"/>
          <a:stretch>
            <a:fillRect/>
          </a:stretch>
        </p:blipFill>
        <p:spPr>
          <a:xfrm>
            <a:off x="502921" y="1097280"/>
            <a:ext cx="6949440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Explore specific drivers generating high transportation expenses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315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Shipping cost by transportation mode, location, carrier, route, supplier and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Compare transportation cost across multiple dimensions to locate major cost drivers.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Uses comparisons and decomposition to locate major transportation cost drivers.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378C63-7CB1-B472-7745-CD041DDF9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23" t="19200" r="19676" b="13262"/>
          <a:stretch>
            <a:fillRect/>
          </a:stretch>
        </p:blipFill>
        <p:spPr>
          <a:xfrm>
            <a:off x="45720" y="1204550"/>
            <a:ext cx="7772400" cy="46317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Carrier Performance Analysis — compare carrier speed, cost and shipping quantity.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Total Shipments 1,535 • Avg Shipping Time 5.74 • Avg Shipping Cost 5.67 • Total Transportation Cost 811.51K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060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606040"/>
            <a:ext cx="73152" cy="14173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7340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1089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Carrier shipping time/cost, route shipping time, carrier speed vs cost, order quantity and shipping-time decomposition.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519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3799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7548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Compares carrier and route performance using a common KPI framework.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A6BD0B-848B-B83A-8C1D-58019B851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888" r="11867"/>
          <a:stretch>
            <a:fillRect/>
          </a:stretch>
        </p:blipFill>
        <p:spPr>
          <a:xfrm>
            <a:off x="0" y="1060704"/>
            <a:ext cx="7818120" cy="51210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Route Performance Analysis — compare route speed, cost and carrier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Route-level shipping time and cost, route speed-vs-cost comparisons, decomposition and carrier performance by route.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Balance delivery speed and shipping cost rather than evaluating either measure alone.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Supports evidence-based route and carrier selection.</a:t>
            </a:r>
          </a:p>
        </p:txBody>
      </p:sp>
      <p:pic>
        <p:nvPicPr>
          <p:cNvPr id="25" name="Picture 24" descr="_dashboard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88720"/>
            <a:ext cx="7516368" cy="50847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55584" y="0"/>
            <a:ext cx="1274728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How can supply-chain KPIs be combined for quick performance analysis and decision-making?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67208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188720"/>
            <a:ext cx="40233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164592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1" y="177393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On-Time Delivery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46888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246888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1" y="259689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Cost per Shipment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29184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3291840"/>
            <a:ext cx="73152" cy="6400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1" y="341985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Average Delivery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11480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79" y="411480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62671" y="424281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Supplier Rating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93776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493776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62671" y="506577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Freight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806440"/>
            <a:ext cx="39776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67717E"/>
                </a:solidFill>
                <a:latin typeface="Aptos"/>
              </a:defRPr>
            </a:pPr>
            <a:r>
              <a:t>Purpose: Consolidate core supply chain metrics into a single screen.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95980D-5A0F-DADA-3E15-6D15A386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643" y="1188720"/>
            <a:ext cx="7478403" cy="50065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Broader view connecting supplier, regional, revenue, and inspection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Supplier delivery performance, regional shipping cost, revenue by product type and inspection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Connect delivery, cost, revenue and quality indicators in one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broader end-to-end view of supply chain performance.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DDA629-1A3E-308A-2A69-4761F552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1" y="1188720"/>
            <a:ext cx="7369030" cy="48198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146D-EDCA-D7DD-9A17-4D70DD91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ECB609-E83B-E012-D7B3-22604764F425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44FABE-94BF-2CF2-30C7-12A2923A7EE2}"/>
              </a:ext>
            </a:extLst>
          </p:cNvPr>
          <p:cNvSpPr txBox="1"/>
          <p:nvPr/>
        </p:nvSpPr>
        <p:spPr>
          <a:xfrm>
            <a:off x="1120876" y="91440"/>
            <a:ext cx="92221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800" b="1" dirty="0">
                <a:solidFill>
                  <a:srgbClr val="00B0F0"/>
                </a:solidFill>
              </a:rPr>
              <a:t>–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Developing, Optimizing, Testing and Deployment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5D159D-6DC1-7034-E999-725994975D03}"/>
              </a:ext>
            </a:extLst>
          </p:cNvPr>
          <p:cNvSpPr txBox="1"/>
          <p:nvPr/>
        </p:nvSpPr>
        <p:spPr>
          <a:xfrm>
            <a:off x="10784711" y="118872"/>
            <a:ext cx="96532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11964D-ACC8-283A-36AD-FADC4D9CA40D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8FB63-721F-E2DD-EE07-665026743B4B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E7AC2-7479-3605-2532-9830447CC795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3586C0-4104-2E20-8453-609E3450F42C}"/>
              </a:ext>
            </a:extLst>
          </p:cNvPr>
          <p:cNvSpPr/>
          <p:nvPr/>
        </p:nvSpPr>
        <p:spPr>
          <a:xfrm>
            <a:off x="108156" y="973394"/>
            <a:ext cx="11641884" cy="5309829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Ensure the final dashboard is accurate, consistent, and reliable.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8D369-6CEC-444D-462F-B950E2FC2BBB}"/>
              </a:ext>
            </a:extLst>
          </p:cNvPr>
          <p:cNvSpPr txBox="1"/>
          <p:nvPr/>
        </p:nvSpPr>
        <p:spPr>
          <a:xfrm>
            <a:off x="320040" y="1347019"/>
            <a:ext cx="71819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01 | Validate 🔍</a:t>
            </a:r>
            <a:br>
              <a:rPr lang="en-IN" dirty="0"/>
            </a:br>
            <a:r>
              <a:rPr lang="en-IN" dirty="0"/>
              <a:t>Turn every KPI and visual into a </a:t>
            </a:r>
            <a:r>
              <a:rPr lang="en-IN" b="1" dirty="0"/>
              <a:t>verified result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Ensure the final dashboard is accurate, consistent, and reliable.</a:t>
            </a:r>
          </a:p>
          <a:p>
            <a:endParaRPr lang="en-IN" dirty="0"/>
          </a:p>
          <a:p>
            <a:r>
              <a:rPr lang="en-IN" b="1" dirty="0"/>
              <a:t>02 | Document 📘</a:t>
            </a:r>
            <a:br>
              <a:rPr lang="en-IN" dirty="0"/>
            </a:br>
            <a:r>
              <a:rPr lang="en-IN" dirty="0"/>
              <a:t>Convert our entire project journey into </a:t>
            </a:r>
            <a:r>
              <a:rPr lang="en-IN" b="1" dirty="0"/>
              <a:t>clear evidence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Capture the methods, metrics, dashboards, and insights.</a:t>
            </a:r>
          </a:p>
          <a:p>
            <a:endParaRPr lang="en-IN" dirty="0"/>
          </a:p>
          <a:p>
            <a:r>
              <a:rPr lang="en-IN" b="1" dirty="0"/>
              <a:t>03 | Refine ⚡</a:t>
            </a:r>
            <a:br>
              <a:rPr lang="en-IN" dirty="0"/>
            </a:br>
            <a:r>
              <a:rPr lang="en-IN" dirty="0"/>
              <a:t>Transform complex analysis into a </a:t>
            </a:r>
            <a:r>
              <a:rPr lang="en-IN" b="1" dirty="0"/>
              <a:t>simple decision-making experience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Improve clarity, usability, navigation, and visual impact.</a:t>
            </a:r>
          </a:p>
          <a:p>
            <a:endParaRPr lang="en-IN" dirty="0"/>
          </a:p>
          <a:p>
            <a:r>
              <a:rPr lang="en-IN" b="1" dirty="0"/>
              <a:t>04 | Deploy 🚀</a:t>
            </a:r>
            <a:br>
              <a:rPr lang="en-IN" dirty="0"/>
            </a:br>
            <a:r>
              <a:rPr lang="en-IN" dirty="0"/>
              <a:t>Move the solution from </a:t>
            </a:r>
            <a:r>
              <a:rPr lang="en-IN" b="1" dirty="0"/>
              <a:t>project work to practical delivery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Present a ready-to-use dashboard for smarter supply-chain decisions.</a:t>
            </a:r>
          </a:p>
          <a:p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C914216-5EAF-9BBD-3ADE-C7D6A21E2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973395"/>
            <a:ext cx="4358959" cy="522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62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2BFCB-F34C-C054-EE32-DC5662DB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8EC86-FF12-C132-42E7-0EE5DD62451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3D5A0A-BE90-306C-052C-59F88CF1D42B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1ED64-C967-16AA-E868-38C5F641B33C}"/>
              </a:ext>
            </a:extLst>
          </p:cNvPr>
          <p:cNvSpPr txBox="1"/>
          <p:nvPr/>
        </p:nvSpPr>
        <p:spPr>
          <a:xfrm>
            <a:off x="2094270" y="91440"/>
            <a:ext cx="8544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IN" sz="2800" dirty="0"/>
              <a:t> Warehouse Efficiency Reports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3E14F-D369-11F5-28EF-B663483FEDD2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CF2F1-EF8B-021A-3922-8F0F1FC8E9A8}"/>
              </a:ext>
            </a:extLst>
          </p:cNvPr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Broader view connecting supplier, regional, revenue, and inspection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4705F3-CC7D-87B7-388C-C794513993AD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BF4C0-8788-4ED7-F75F-D9DFA71BE80E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89A55-955F-58BD-B410-1A14121F2462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AB97425-7FAE-82EB-F24E-DFAC47BA5AD0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585B23-8BDC-BBBC-F7A5-0A9CEA977C2C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C53032-7611-CB95-096C-BB983441BC0D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B903D-E3F4-62B1-799E-27E66C2593C3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E2261-B42D-239B-64A8-39EBDE145BA3}"/>
              </a:ext>
            </a:extLst>
          </p:cNvPr>
          <p:cNvSpPr txBox="1"/>
          <p:nvPr/>
        </p:nvSpPr>
        <p:spPr>
          <a:xfrm>
            <a:off x="8211312" y="164592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Inventory, </a:t>
            </a:r>
            <a:r>
              <a:rPr lang="en-IN" sz="1100" dirty="0" err="1">
                <a:solidFill>
                  <a:srgbClr val="2D3748"/>
                </a:solidFill>
                <a:latin typeface="Aptos"/>
              </a:rPr>
              <a:t>fulfillment</a:t>
            </a:r>
            <a:r>
              <a:rPr lang="en-IN" sz="1100" dirty="0">
                <a:solidFill>
                  <a:srgbClr val="2D3748"/>
                </a:solidFill>
                <a:latin typeface="Aptos"/>
              </a:rPr>
              <a:t>, orders, delivery, revenue, and defect performance across locations. </a:t>
            </a:r>
          </a:p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2BC0F9C-DF2E-ECA9-4916-FEE6C1B1BDC5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51A98-BD6F-A087-BF4A-78A4488BC0A3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C6C412-AF79-11EB-6446-45C8A94371AB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23A850-E219-2018-7A2F-64DB075AB90E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inventory efficiency, revenue, defect rates, and </a:t>
            </a:r>
            <a:r>
              <a:rPr lang="en-IN" sz="1100" dirty="0" err="1">
                <a:solidFill>
                  <a:srgbClr val="2D3748"/>
                </a:solidFill>
                <a:latin typeface="Aptos"/>
              </a:rPr>
              <a:t>fulfillment</a:t>
            </a:r>
            <a:r>
              <a:rPr lang="en-IN" sz="1100" dirty="0">
                <a:solidFill>
                  <a:srgbClr val="2D3748"/>
                </a:solidFill>
                <a:latin typeface="Aptos"/>
              </a:rPr>
              <a:t> performance by location and key supply-chain dimensions.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7A624D8-CF78-114B-36B9-8694267B2929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E154C2-3AA0-63B6-9A7C-33145FF4F67D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6CE89-D528-5CE8-EBC8-69C689A91174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F2795F-07C8-6B51-88D9-99958503C9D9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Provide a centralized view to identify efficiency gaps and support data-driven supply-chain decisions. </a:t>
            </a:r>
          </a:p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endParaRPr lang="en-US" dirty="0"/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17C365D5-A6E5-6083-9AB5-138D407F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60" y="1133856"/>
            <a:ext cx="6950765" cy="511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4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AF9F4-0424-AB03-C886-ED036C51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E11F1B-9ED8-3135-6B09-B1B5DBF9974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F8C20F-9157-3B39-27CF-8B8D6B667DA2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2B25A-A75F-672C-D2D2-57054E61B395}"/>
              </a:ext>
            </a:extLst>
          </p:cNvPr>
          <p:cNvSpPr txBox="1"/>
          <p:nvPr/>
        </p:nvSpPr>
        <p:spPr>
          <a:xfrm>
            <a:off x="2094270" y="91440"/>
            <a:ext cx="8544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IN" sz="2800" dirty="0"/>
              <a:t> Warehouse Efficiency Reports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0E3DE-27C5-3ECD-1C86-CC658A9A54F6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6C7B6-18D2-9F93-30E2-28F18DF25AB9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ii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88DBFD-53ED-70A2-DC98-B9EE3D441C6C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C28CA-2434-4942-6451-21F7B9416883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EF00F-C195-2113-5F4F-30DF4BEA4FB6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AF3871-014F-7EBA-158D-5AE36DCC5B11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CFDB61A-AB59-28A5-5037-6944E56A323D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5948AA-508E-3444-BACF-DF3903FC153F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DFB953-F508-A86E-22FC-B4745C8C10AD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5F816F-955D-D34D-A73D-E36C23ACEE22}"/>
              </a:ext>
            </a:extLst>
          </p:cNvPr>
          <p:cNvSpPr txBox="1"/>
          <p:nvPr/>
        </p:nvSpPr>
        <p:spPr>
          <a:xfrm>
            <a:off x="8211312" y="1645920"/>
            <a:ext cx="3264408" cy="3754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Warehouse efficiency, shipping costs, product availability, and location-level performance.</a:t>
            </a:r>
            <a:r>
              <a:rPr dirty="0"/>
              <a:t>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9140690-1B86-77BA-F704-668C5F0FDC74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378D5-F0B7-5774-81E9-C6930D2ECF48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C725A-5E4A-4F4B-8B07-AE073FAE44C2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DDA391-1844-04B1-C567-32910F444024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warehouse efficiency across locations and drill down by product type, supplier, transportation mode, and shipping time.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7911059-5075-209B-996D-9257F746EA81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6E36BF-361D-2145-7611-413500F8710E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B94541-3851-43A0-DFCC-03E9230DD3F2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B041C5-EC44-DB40-A0DF-78F7EF3CC339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Identify location and supply-chain factors affecting warehouse efficiency for better operational decisions.</a:t>
            </a:r>
            <a:endParaRPr lang="en-US" dirty="0"/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6641D0BC-0D4F-9D5B-C53B-BFD9967E9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1092708"/>
            <a:ext cx="6918960" cy="477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48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1DFB-F1BB-8F23-FA04-749EFE85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6A04F2-77C2-94E8-805F-4D0BFAD1209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4D4CE-9A73-410C-E1CE-C66D6ABD1956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5AF05-A0D1-15B0-C416-2727A5D025AA}"/>
              </a:ext>
            </a:extLst>
          </p:cNvPr>
          <p:cNvSpPr txBox="1"/>
          <p:nvPr/>
        </p:nvSpPr>
        <p:spPr>
          <a:xfrm>
            <a:off x="2094270" y="91440"/>
            <a:ext cx="85442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US" dirty="0"/>
              <a:t> Supply Chain Executive Overview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E4F40-CF71-2EC0-D89B-3A80C252473B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07CAA-CBC3-0471-D942-0C37919C7C41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2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03AE7-8EB9-E9E7-6100-11DCA47722E2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B91D2C-2253-0CC5-A6B6-7F7F6D0AD8B2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D133BB-62EF-D8CF-B874-121D8E8571A3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C4F3FE-7327-87B1-DAFD-B3186BF1857E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7C9097-6CC6-D327-19BE-4006FD07E597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D20B7-C7E6-1783-B6E0-0200E86C46B0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2B69C8-AEC3-4A7E-83FB-EEBB47160C54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471E3C-0549-54EE-09C4-5C0E2AE1DA27}"/>
              </a:ext>
            </a:extLst>
          </p:cNvPr>
          <p:cNvSpPr txBox="1"/>
          <p:nvPr/>
        </p:nvSpPr>
        <p:spPr>
          <a:xfrm>
            <a:off x="8211312" y="164592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Overall supply-chain performance across sales, revenue, production, manufacturing, shipping, quality, and location.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2EF27B7-EEC8-F4AC-35F3-794C4F5F7E4D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C1C5ED-CA7E-B680-715B-E60E84AE23D3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CE6AB9-9692-74A8-29D6-BAB18188F255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A6733-CADE-DCFE-283F-E42C4DD26F50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product types, carriers, locations, shipping time, revenue, production volume, manufacturing cost, and defect rate.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6030A17-E75B-8721-24B7-481A9709B968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CDE5EC-1045-A942-7AFB-A4FC4AE67CE1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2C1CD2-3905-F2E2-DCD2-2F811C7DCCE5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A7D28D-0CD6-60DD-DD8A-3728EAC1EDE6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Provide an executive-level view of key supply-chain KPIs to identify performance gaps and support data-driven decisions</a:t>
            </a:r>
            <a:endParaRPr lang="en-US" dirty="0"/>
          </a:p>
        </p:txBody>
      </p:sp>
      <p:pic>
        <p:nvPicPr>
          <p:cNvPr id="26" name="Content Placeholder 5">
            <a:extLst>
              <a:ext uri="{FF2B5EF4-FFF2-40B4-BE49-F238E27FC236}">
                <a16:creationId xmlns:a16="http://schemas.microsoft.com/office/drawing/2014/main" id="{163911CB-6727-9F72-F6A8-CC0096AD8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7" y="1143000"/>
            <a:ext cx="7851913" cy="494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74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3EF0-7A96-AFCB-91B4-8437B20F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37DF4E-F7D5-9912-12E6-06BBBCC0DA3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4FCD11-E812-BA01-B98F-1662521A4109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25973-65B1-1C63-FE06-F06AC871F305}"/>
              </a:ext>
            </a:extLst>
          </p:cNvPr>
          <p:cNvSpPr txBox="1"/>
          <p:nvPr/>
        </p:nvSpPr>
        <p:spPr>
          <a:xfrm>
            <a:off x="2094270" y="91440"/>
            <a:ext cx="85442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US" dirty="0"/>
              <a:t>Optimize Dashboard Performance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E791A-9017-B97B-C311-3CB4BBCED21C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84B62-459F-96D3-D18E-F7FC2041E2A5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3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8BD56-9A2B-0CCD-4D32-246870FD13DC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AA09E-9B04-C91D-D1E3-6C650C76E44E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62970-7E28-1F44-46DC-CF819D4DAEF3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01DAF9C-3EC9-1638-9494-D68FCD186F68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Shipping cost, shipping time, supplier performance, transportation modes, revenue, and location-level analysis</a:t>
            </a:r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1C9AF7-8D5D-0373-1744-02AEE4EFB853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9C6563-C010-15C6-EF00-B0075AAB6A39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3E0E02-BADF-EB92-143F-0AA5411DF5D8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7DC7AA-4506-96DF-5C0F-DA2A064D806D}"/>
              </a:ext>
            </a:extLst>
          </p:cNvPr>
          <p:cNvSpPr txBox="1"/>
          <p:nvPr/>
        </p:nvSpPr>
        <p:spPr>
          <a:xfrm>
            <a:off x="8139635" y="1645920"/>
            <a:ext cx="3336085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Shipping cost, shipping time, supplier performance, transportation modes, revenue, and location-level analysis.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E621CF1-D57C-F819-5A06-53ADAA24B874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0D83DD-F939-B850-5C0B-6B47A3E30303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7F310C-B448-32D2-52CE-C2B51EC9D0FF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3C908D-0235-F4AF-A504-96AC722961FB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Examine cost–time relationships and compare suppliers, locations, transportation modes, and product types using interactive filters.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004280C-918B-E7BC-2F72-0B3888654B44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E5AFA0-5265-208C-2D76-3E5958879AE0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C9F77-CA99-6BE6-F6DB-CEBEA6B0A9D0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FF527E-38B0-B837-B965-FF3122932622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Optimize dashboard-driven supply-chain decisions by identifying cost patterns, efficiency gaps, and key performance factors.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AD0B53-292A-9107-7941-767B15BB8435}"/>
              </a:ext>
            </a:extLst>
          </p:cNvPr>
          <p:cNvSpPr txBox="1"/>
          <p:nvPr/>
        </p:nvSpPr>
        <p:spPr>
          <a:xfrm>
            <a:off x="3023420" y="3132873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93F8711-E4F6-381B-2454-E07C0FE4A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316675" cy="523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23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D3DE-AB07-6243-685A-ECE5476A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8ED9DF-A57F-BE26-9F8D-849822D74B0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F4A4F-648D-5556-77BA-B0D77E532B97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0309A-37E3-D61D-56BC-B2ABAF9CCD6B}"/>
              </a:ext>
            </a:extLst>
          </p:cNvPr>
          <p:cNvSpPr txBox="1"/>
          <p:nvPr/>
        </p:nvSpPr>
        <p:spPr>
          <a:xfrm>
            <a:off x="2094270" y="91440"/>
            <a:ext cx="85442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US" dirty="0"/>
              <a:t>Final Testing, Documentation &amp; Deployment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DA313-35B0-4BC5-AAC4-8B676CE94946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4DA74-0100-9665-D928-CBC078C5F2BB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4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49263-82DD-EC2C-17CC-36AC8F1B675E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75477A-0875-B0D3-3581-4DB5C1D46F05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9D17F-1388-F10C-3F36-4C93991C28EF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00A2D3-4780-923A-2C01-D59B7532813D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737B095-7F8A-EA79-FCDD-698DF8C5BE29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299AA-DEDB-BF2F-8B5A-FC014014C174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40C09E-DA91-16EE-E9F5-A965BA51887C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6A3013-80E7-158B-0BCC-70734EBB0A2B}"/>
              </a:ext>
            </a:extLst>
          </p:cNvPr>
          <p:cNvSpPr txBox="1"/>
          <p:nvPr/>
        </p:nvSpPr>
        <p:spPr>
          <a:xfrm>
            <a:off x="8211312" y="164592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Executive-level performance across revenue, products, production, inventory, shipping, suppliers, transportation, and quality.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7F03C0B-B82D-9CF1-F38B-822C10E0CBCD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B29200-9071-D1C1-36FE-3F2959926CDF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8150B7-17D1-604F-0877-C116D050391D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28AE8A-E3DE-DEF3-D832-29CF9B8AB80F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product, location, carrier, supplier, transportation mode, lead time, and inspection performance.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7522B8A-F2FC-69EF-2DDD-1D51AD0AAA9B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6529AF-8276-5AD3-4C07-D4BCA56C6ABA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7A6ABC-B04C-7DC1-9270-DC10508FF2F9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575038-D207-6DD6-830F-7C56A9562A44}"/>
              </a:ext>
            </a:extLst>
          </p:cNvPr>
          <p:cNvSpPr txBox="1"/>
          <p:nvPr/>
        </p:nvSpPr>
        <p:spPr>
          <a:xfrm>
            <a:off x="8211312" y="4800600"/>
            <a:ext cx="3264408" cy="71404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Provide a centralized view of supply-chain efficiency to identify performance gaps and support better decisions. </a:t>
            </a:r>
          </a:p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A894D4-0972-E4B6-0EC3-BF408EA2507F}"/>
              </a:ext>
            </a:extLst>
          </p:cNvPr>
          <p:cNvSpPr txBox="1"/>
          <p:nvPr/>
        </p:nvSpPr>
        <p:spPr>
          <a:xfrm>
            <a:off x="3023420" y="3132873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E827B8-C8B6-FEAB-BD85-FD9D25D15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68" y="1143000"/>
            <a:ext cx="7528538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61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Overall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Integrated insights across all three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Supplier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US" dirty="0"/>
              <a:t>Multi-metric supplier evaluation helps identify supplier strengths and improvement areas.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15544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Transportation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rPr dirty="0"/>
              <a:t>Mode-, location-, and carrier-level analysis helps identify major transportation cost drivers.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154680"/>
            <a:ext cx="73152" cy="15544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Route &amp; Carrier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657600"/>
            <a:ext cx="5001768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IN" sz="1300" dirty="0">
                <a:solidFill>
                  <a:srgbClr val="27303E"/>
                </a:solidFill>
                <a:latin typeface="Aptos"/>
              </a:rPr>
              <a:t>Combining shipping time and cost supports balanced route and carrier selection.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21792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1546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Advanced KPI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657600"/>
            <a:ext cx="5001768" cy="6370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IN" sz="1300" dirty="0">
                <a:solidFill>
                  <a:srgbClr val="27303E"/>
                </a:solidFill>
                <a:latin typeface="Aptos"/>
              </a:rPr>
              <a:t>Integrated KPIs provide a consolidated view of operational performance and supply-chain bottlenecks. </a:t>
            </a:r>
          </a:p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Turning dashboard analysis into practical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501640" cy="37996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34747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48740"/>
            <a:ext cx="5093207" cy="2985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1">
                <a:solidFill>
                  <a:srgbClr val="14223D"/>
                </a:solidFill>
                <a:latin typeface="Aptos"/>
              </a:defRPr>
            </a:pPr>
            <a:r>
              <a:rPr i="1" u="sng" dirty="0"/>
              <a:t>Key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93207" cy="32378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Supplier Performance: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Supplier performance varies across sales contribution, stock levels, product contribution, and logistics indicators. </a:t>
            </a:r>
          </a:p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Transportation Cost: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Transportation costs differ across modes, locations, and carriers, highlighting major cost drivers. </a:t>
            </a:r>
          </a:p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Route &amp; Carrier Performance: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Shipping speed and transportation cost together reveal important route and carrier trade-offs. </a:t>
            </a:r>
          </a:p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Advanced KPI Visualization: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Integrated KPIs provide a consolidated view of operational performance and supply-chain bottlenecks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34747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93207" cy="2985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1">
                <a:solidFill>
                  <a:srgbClr val="14223D"/>
                </a:solidFill>
                <a:latin typeface="Aptos"/>
              </a:defRPr>
            </a:pPr>
            <a:r>
              <a:rPr i="1" u="sng" dirty="0"/>
              <a:t>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93207" cy="26068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Supplier Performance: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Continuously monitor supplier performance using multiple performance indicators. </a:t>
            </a:r>
          </a:p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Transportation Cost: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Review high-cost transportation routes and modes to identify optimization opportunities. </a:t>
            </a:r>
          </a:p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Route &amp; Carrier Performance: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Select routes and carriers by balancing shipping cost with delivery speed. </a:t>
            </a:r>
          </a:p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Advanced KPI Visualization: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Use interactive KPI dashboards for ongoing supply-chain performance monitoring. </a:t>
            </a:r>
          </a:p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85800" y="5166360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Focus: Improve visibility → identify bottlenecks → optimize decisions → monitor performance.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16310"/>
            <a:ext cx="12277191" cy="702401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5" y="-9145"/>
            <a:ext cx="12276886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3033" y="7443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raw data to actionable supply chain performance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18872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16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1 – Data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69164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Established a clean and structured dataset for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31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33172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459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2 – Supply Chain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834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Used EDA and Power BI to identify patterns and monitor operational KPIs.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474720"/>
            <a:ext cx="73152" cy="914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602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Milestone 3 – Advanced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77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rPr dirty="0"/>
              <a:t>Evaluated supplier, transportation, route, carrier, and KPI performance to support optimization.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687568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5675081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690713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Future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611065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rPr dirty="0"/>
              <a:t>Real-time supply chain data streaming and automated alerts.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1474" y="5666723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44768" y="5666723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9491" y="5690713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Future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490" y="6044184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rPr dirty="0"/>
              <a:t>Predictive demand forecasting and machine-learning-based supplier risk assessment.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F89DDD61-28A5-D417-BEE9-AE3A07815663}"/>
              </a:ext>
            </a:extLst>
          </p:cNvPr>
          <p:cNvSpPr/>
          <p:nvPr/>
        </p:nvSpPr>
        <p:spPr>
          <a:xfrm>
            <a:off x="571500" y="4581144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2571A0-68BF-41EC-C3E8-00C0F78D918B}"/>
              </a:ext>
            </a:extLst>
          </p:cNvPr>
          <p:cNvSpPr/>
          <p:nvPr/>
        </p:nvSpPr>
        <p:spPr>
          <a:xfrm>
            <a:off x="557784" y="4568657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73ABEE-2584-27D6-875A-F16B551DEEC1}"/>
              </a:ext>
            </a:extLst>
          </p:cNvPr>
          <p:cNvSpPr txBox="1"/>
          <p:nvPr/>
        </p:nvSpPr>
        <p:spPr>
          <a:xfrm>
            <a:off x="722376" y="4644365"/>
            <a:ext cx="10716768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Milestone</a:t>
            </a:r>
            <a:r>
              <a:rPr lang="en-US" dirty="0"/>
              <a:t> 4- </a:t>
            </a:r>
            <a:r>
              <a:rPr lang="en-US" sz="1500" b="1" dirty="0">
                <a:solidFill>
                  <a:schemeClr val="tx2">
                    <a:lumMod val="50000"/>
                  </a:schemeClr>
                </a:solidFill>
              </a:rPr>
              <a:t>De</a:t>
            </a:r>
            <a:r>
              <a:rPr lang="en-US" sz="1500" b="1" dirty="0">
                <a:solidFill>
                  <a:srgbClr val="002060"/>
                </a:solidFill>
              </a:rPr>
              <a:t>veloping, Optimizing, Testing and Deployment</a:t>
            </a:r>
            <a:endParaRPr sz="1500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143B6F-60AD-1C1F-D98B-D086225F68D4}"/>
              </a:ext>
            </a:extLst>
          </p:cNvPr>
          <p:cNvSpPr txBox="1"/>
          <p:nvPr/>
        </p:nvSpPr>
        <p:spPr>
          <a:xfrm>
            <a:off x="773946" y="5053864"/>
            <a:ext cx="10716768" cy="6370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IN" sz="1300" dirty="0">
                <a:solidFill>
                  <a:srgbClr val="27303E"/>
                </a:solidFill>
                <a:latin typeface="Aptos"/>
              </a:rPr>
              <a:t>Milestone 4 transformed our analysis into a </a:t>
            </a:r>
            <a:r>
              <a:rPr lang="en-IN" sz="1300" b="1" dirty="0">
                <a:solidFill>
                  <a:srgbClr val="27303E"/>
                </a:solidFill>
                <a:latin typeface="Aptos"/>
              </a:rPr>
              <a:t>validated, documented, refined, and deployment-ready supply-chain solution</a:t>
            </a:r>
            <a:r>
              <a:rPr lang="en-IN" sz="1300" dirty="0">
                <a:solidFill>
                  <a:srgbClr val="27303E"/>
                </a:solidFill>
                <a:latin typeface="Aptos"/>
              </a:rPr>
              <a:t> that supports reliable insights and smarter decision-making.</a:t>
            </a:r>
          </a:p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700" b="1">
                <a:solidFill>
                  <a:srgbClr val="D5EFF0"/>
                </a:solidFill>
                <a:latin typeface="Aptos"/>
              </a:defRPr>
            </a:pPr>
            <a:r>
              <a:t>Supply Chain Visibility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188F91"/>
                </a:solidFill>
                <a:latin typeface="Aptos"/>
              </a:defRPr>
            </a:pPr>
            <a:r>
              <a:t>Data-driven insights for smarter supply chains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2426</Words>
  <Application>Microsoft Office PowerPoint</Application>
  <PresentationFormat>Widescreen</PresentationFormat>
  <Paragraphs>382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Pochuru Supraja</cp:lastModifiedBy>
  <cp:revision>13</cp:revision>
  <dcterms:created xsi:type="dcterms:W3CDTF">2013-01-27T09:14:16Z</dcterms:created>
  <dcterms:modified xsi:type="dcterms:W3CDTF">2026-09-08T14:04:36Z</dcterms:modified>
  <cp:category/>
</cp:coreProperties>
</file>